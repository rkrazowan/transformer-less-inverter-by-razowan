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8" r:id="rId4"/>
    <p:sldId id="268" r:id="rId5"/>
    <p:sldId id="269" r:id="rId6"/>
    <p:sldId id="270" r:id="rId7"/>
    <p:sldId id="261" r:id="rId8"/>
    <p:sldId id="262" r:id="rId9"/>
    <p:sldId id="263" r:id="rId10"/>
    <p:sldId id="271" r:id="rId11"/>
    <p:sldId id="265" r:id="rId12"/>
    <p:sldId id="272" r:id="rId13"/>
  </p:sldIdLst>
  <p:sldSz cx="14630400" cy="8229600"/>
  <p:notesSz cx="8229600" cy="14630400"/>
  <p:embeddedFontLst>
    <p:embeddedFont>
      <p:font typeface="Book Antiqua" panose="02040602050305030304" pitchFamily="18" charset="0"/>
      <p:regular r:id="rId15"/>
      <p:bold r:id="rId16"/>
      <p:italic r:id="rId17"/>
      <p:boldItalic r:id="rId18"/>
    </p:embeddedFont>
    <p:embeddedFont>
      <p:font typeface="Berlin Sans FB" panose="020E0602020502020306" pitchFamily="34" charset="0"/>
      <p:regular r:id="rId19"/>
      <p:bold r:id="rId20"/>
    </p:embeddedFont>
    <p:embeddedFont>
      <p:font typeface="Cabin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Unbounded" panose="020B0604020202020204" charset="0"/>
      <p:regular r:id="rId26"/>
    </p:embeddedFont>
    <p:embeddedFont>
      <p:font typeface="Bodoni MT Black" panose="02070A03080606020203" pitchFamily="18" charset="0"/>
      <p:bold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46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2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30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86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88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4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79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3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86450" y="2608731"/>
            <a:ext cx="8606790" cy="23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5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Unbounded" pitchFamily="34" charset="-122"/>
                <a:cs typeface="Times New Roman" panose="02020603050405020304" pitchFamily="18" charset="0"/>
              </a:rPr>
              <a:t>Minimization of Leakage </a:t>
            </a:r>
            <a:r>
              <a:rPr lang="en-US" sz="3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Unbounded" pitchFamily="34" charset="-122"/>
                <a:cs typeface="Times New Roman" panose="02020603050405020304" pitchFamily="18" charset="0"/>
              </a:rPr>
              <a:t>Current by Frequency Range  Determination </a:t>
            </a: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Unbounded" pitchFamily="34" charset="-122"/>
                <a:cs typeface="Times New Roman" panose="02020603050405020304" pitchFamily="18" charset="0"/>
              </a:rPr>
              <a:t>in </a:t>
            </a:r>
            <a:r>
              <a:rPr lang="en-US" sz="3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Unbounded" pitchFamily="34" charset="-122"/>
                <a:cs typeface="Times New Roman" panose="02020603050405020304" pitchFamily="18" charset="0"/>
              </a:rPr>
              <a:t>Transformer-less Inverters for Photovoltaic On Grid System</a:t>
            </a:r>
          </a:p>
          <a:p>
            <a:pPr marL="0" indent="0" algn="just">
              <a:lnSpc>
                <a:spcPts val="55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675870" y="7692390"/>
            <a:ext cx="1817370" cy="4572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886450" y="5424733"/>
            <a:ext cx="7468553" cy="23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Presented by </a:t>
            </a:r>
            <a:endParaRPr lang="en-US" sz="2400" dirty="0" smtClean="0">
              <a:solidFill>
                <a:srgbClr val="CAD6DE"/>
              </a:solidFill>
              <a:latin typeface="Book Antiqua" panose="02040602050305030304" pitchFamily="18" charset="0"/>
              <a:ea typeface="Cabin" pitchFamily="34" charset="-122"/>
              <a:cs typeface="Cabin" pitchFamily="34" charset="-120"/>
            </a:endParaRPr>
          </a:p>
          <a:p>
            <a:pPr marL="0" indent="0" algn="ctr">
              <a:buNone/>
            </a:pP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Robiul</a:t>
            </a:r>
            <a:r>
              <a:rPr lang="en-US" sz="2400" dirty="0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 Hosen</a:t>
            </a:r>
          </a:p>
          <a:p>
            <a:pPr marL="0" indent="0" algn="ctr">
              <a:buNone/>
            </a:pP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Razowan</a:t>
            </a:r>
            <a:r>
              <a:rPr lang="en-US" sz="2400" dirty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Kabir</a:t>
            </a:r>
            <a:endParaRPr lang="en-US" sz="2400" dirty="0" smtClean="0">
              <a:solidFill>
                <a:srgbClr val="CAD6DE"/>
              </a:solidFill>
              <a:latin typeface="Book Antiqua" panose="02040602050305030304" pitchFamily="18" charset="0"/>
              <a:ea typeface="Cabin" pitchFamily="34" charset="-122"/>
              <a:cs typeface="Cabin" pitchFamily="34" charset="-120"/>
            </a:endParaRPr>
          </a:p>
          <a:p>
            <a:pPr marL="0" indent="0" algn="ctr">
              <a:buNone/>
            </a:pPr>
            <a:r>
              <a:rPr lang="en-US" sz="2400" dirty="0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Most. </a:t>
            </a: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Murshida</a:t>
            </a:r>
            <a:r>
              <a:rPr lang="en-US" sz="2400" dirty="0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khatun</a:t>
            </a:r>
            <a:r>
              <a:rPr lang="en-US" sz="2400" dirty="0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Pantho</a:t>
            </a:r>
            <a:r>
              <a:rPr lang="en-US" sz="2400" dirty="0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2400" dirty="0" err="1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Mondal</a:t>
            </a:r>
            <a:endParaRPr lang="en-US" sz="2400" dirty="0">
              <a:solidFill>
                <a:srgbClr val="CAD6DE"/>
              </a:solidFill>
              <a:latin typeface="Book Antiqua" panose="02040602050305030304" pitchFamily="18" charset="0"/>
              <a:ea typeface="Cabin" pitchFamily="34" charset="-122"/>
              <a:cs typeface="Cabin" pitchFamily="34" charset="-120"/>
            </a:endParaRP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910060" y="7521104"/>
            <a:ext cx="3188970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AD6DE"/>
                </a:solidFill>
                <a:latin typeface="Berlin Sans FB" panose="020E0602020502020306" pitchFamily="34" charset="0"/>
                <a:ea typeface="Cabin" pitchFamily="34" charset="-122"/>
                <a:cs typeface="Cabin" pitchFamily="34" charset="-120"/>
              </a:rPr>
              <a:t>Date: 05/05/2025</a:t>
            </a:r>
            <a:endParaRPr lang="en-US" dirty="0">
              <a:latin typeface="Berlin Sans FB" panose="020E0602020502020306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947" y="174198"/>
            <a:ext cx="1639253" cy="17180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7218" y="136308"/>
            <a:ext cx="72231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Gopalganj</a:t>
            </a:r>
            <a:r>
              <a:rPr lang="en-US" sz="3200" dirty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 Science and Technology University</a:t>
            </a:r>
            <a:r>
              <a:rPr lang="en-US" sz="3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7516755" y="1511602"/>
            <a:ext cx="5623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AD6DE"/>
                </a:solidFill>
                <a:latin typeface="Book Antiqua" panose="02040602050305030304" pitchFamily="18" charset="0"/>
                <a:ea typeface="Cabin" pitchFamily="34" charset="-122"/>
                <a:cs typeface="Cabin" pitchFamily="34" charset="-120"/>
              </a:rPr>
              <a:t>Department of Electrical &amp; Electronic Engineering</a:t>
            </a:r>
            <a:r>
              <a:rPr lang="en-US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39935"/>
            <a:ext cx="7468553" cy="213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🔌</a:t>
            </a: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is a Transformer-less Solar Inverter?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833818"/>
            <a:ext cx="7468553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device that converts solar panel power (DC) to usable home power (AC) </a:t>
            </a:r>
            <a:r>
              <a:rPr lang="en-US" sz="3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without a transformer</a:t>
            </a: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2594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03108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Transformer-less?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79809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388036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375904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Compact design, high efficiency, and cost-effectiveness.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523767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615559" y="53199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Disadvantage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15559" y="5815489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galvanic isolation leads to </a:t>
            </a:r>
            <a:r>
              <a:rPr lang="en-US" sz="3600" b="1" dirty="0">
                <a:solidFill>
                  <a:srgbClr val="CAD6DE"/>
                </a:solidFill>
                <a:latin typeface="Bodoni MT Black" panose="02070A03080606020203" pitchFamily="18" charset="0"/>
                <a:ea typeface="Cabin" pitchFamily="34" charset="-122"/>
                <a:cs typeface="Cabin" pitchFamily="34" charset="-120"/>
              </a:rPr>
              <a:t>leakage currents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74" y="3684626"/>
            <a:ext cx="616506" cy="770743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57" y="5157668"/>
            <a:ext cx="573133" cy="716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rgbClr val="E6E6E7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659606"/>
            <a:ext cx="56397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is Leakage </a:t>
            </a:r>
            <a:r>
              <a:rPr lang="en-US" sz="440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Current </a:t>
            </a:r>
            <a:r>
              <a:rPr lang="en-US" sz="5400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?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37724" y="3346013"/>
            <a:ext cx="2527935" cy="1539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⚡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Leakage current is unwanted electricity that flows from solar panels to the ground.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3957161" y="3346013"/>
            <a:ext cx="2527935" cy="1922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🔋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It happens in transformer-less inverters because there's no full isolation between DC and AC sides.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37724" y="5753338"/>
            <a:ext cx="5639753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🌞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Solar panels have a small natural link (capacitance) to the ground.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37724" y="6796207"/>
            <a:ext cx="5639753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🔁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When voltage changes, current flows through this link — this is leakage current Produce.</a:t>
            </a:r>
            <a:endParaRPr lang="en-US" sz="18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581" y="3726180"/>
            <a:ext cx="7322819" cy="450342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545" y="116746"/>
            <a:ext cx="7120890" cy="3355528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5221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5805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Leakage Current Issues in PV Cells (As per IEEE Safety Standards)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140160"/>
            <a:ext cx="20999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Device Tripping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24124" y="5083373"/>
            <a:ext cx="20999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Unexpected system shutdowns due to leakage detection.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015532" y="4140160"/>
            <a:ext cx="2099905" cy="175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EMI (Electromagnetic Interference)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015532" y="6139220"/>
            <a:ext cx="20999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Affects performance of nearby electronic devices.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1706939" y="4140160"/>
            <a:ext cx="20999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Safety Hazards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706939" y="5083373"/>
            <a:ext cx="20999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Risk of electric shock and fire.</a:t>
            </a:r>
            <a:endParaRPr lang="en-US" sz="1850" dirty="0"/>
          </a:p>
        </p:txBody>
      </p:sp>
      <p:sp>
        <p:nvSpPr>
          <p:cNvPr id="10" name="Rectangle 9"/>
          <p:cNvSpPr/>
          <p:nvPr/>
        </p:nvSpPr>
        <p:spPr>
          <a:xfrm>
            <a:off x="12664440" y="7646670"/>
            <a:ext cx="1885950" cy="50292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61028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Leakage Current Influencing Factors and Mitigation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447812"/>
            <a:ext cx="12954952" cy="3220641"/>
          </a:xfrm>
          <a:prstGeom prst="roundRect">
            <a:avLst>
              <a:gd name="adj" fmla="val 11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3455432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84659" y="3606641"/>
            <a:ext cx="27524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Parameter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323398" y="3606641"/>
            <a:ext cx="274867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Effect on Leakage Current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558326" y="3606641"/>
            <a:ext cx="274867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IEEE/IEC Reference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793254" y="3606641"/>
            <a:ext cx="27524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Mitigation Strategy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45344" y="4140875"/>
            <a:ext cx="12939713" cy="14514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84659" y="4292084"/>
            <a:ext cx="27524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Switching Frequency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23398" y="4292084"/>
            <a:ext cx="274867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↑ </a:t>
            </a:r>
            <a:r>
              <a:rPr lang="en-US" sz="18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↓ Frequency 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 ↑ Parasitic coupling (2-3× leakage)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58326" y="4292084"/>
            <a:ext cx="274867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IEEE 1547-2018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0793254" y="4292084"/>
            <a:ext cx="27524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 PWM; use SiC/GaN devices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45344" y="5592366"/>
            <a:ext cx="12939713" cy="10684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84659" y="5743575"/>
            <a:ext cx="27524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Temperature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4323398" y="5743575"/>
            <a:ext cx="274867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↑ 10°C → ~2× leakage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558326" y="5743575"/>
            <a:ext cx="274867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IEC 62478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0793254" y="5743575"/>
            <a:ext cx="27524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Heat sinks, active cooling, PCB layout optimization</a:t>
            </a:r>
            <a:endParaRPr lang="en-US" sz="1850" dirty="0"/>
          </a:p>
        </p:txBody>
      </p:sp>
      <p:sp>
        <p:nvSpPr>
          <p:cNvPr id="19" name="Rectangle 18"/>
          <p:cNvSpPr/>
          <p:nvPr/>
        </p:nvSpPr>
        <p:spPr>
          <a:xfrm>
            <a:off x="12653010" y="7612380"/>
            <a:ext cx="1885950" cy="53721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0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015609"/>
            <a:ext cx="64285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Scope of the Study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07859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937974" y="313658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160871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Simulation Environment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4008358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MATLAB used for detailed circuit modeling.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721662" y="307859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4821912" y="313658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99497" y="3160871"/>
            <a:ext cx="280689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Frequency Analysis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99497" y="4008358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Examined frequency range impacts from 10 to 50 kHz.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25315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937974" y="5311140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335429"/>
            <a:ext cx="324731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Thermal Evaluation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830967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Assessed thermal stresses on power devices under load.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47549"/>
            <a:ext cx="688705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Research Objectives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410539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862524" y="2410539"/>
            <a:ext cx="334518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Simulate Topologies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62524" y="2906078"/>
            <a:ext cx="69301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HERIC, H5, H6, and Neutral Point Clamped (NPC) models.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683097" y="3528417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221498" y="3528417"/>
            <a:ext cx="401514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Frequency Optimization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221498" y="4023955"/>
            <a:ext cx="6571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ideal switching frequency ranges.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7042190" y="4646295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7580590" y="4646295"/>
            <a:ext cx="367403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Topology Comparison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0590" y="5141833"/>
            <a:ext cx="62120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Evaluate leakage and thermal performance differences.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7401282" y="5764173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939683" y="5764173"/>
            <a:ext cx="324647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Thermal Strategies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9683" y="6259711"/>
            <a:ext cx="585299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 recommendations to reduce device heating.</a:t>
            </a:r>
            <a:endParaRPr lang="en-US" sz="1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7240" y="9762"/>
            <a:ext cx="6537960" cy="821983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618720" y="7600950"/>
            <a:ext cx="1874520" cy="51435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82836"/>
            <a:ext cx="631376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Step-by-Step Approach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729026"/>
            <a:ext cx="22860" cy="5717619"/>
          </a:xfrm>
          <a:prstGeom prst="roundRect">
            <a:avLst>
              <a:gd name="adj" fmla="val 125659"/>
            </a:avLst>
          </a:prstGeom>
          <a:solidFill>
            <a:srgbClr val="49606E"/>
          </a:solidFill>
          <a:ln/>
        </p:spPr>
      </p:sp>
      <p:sp>
        <p:nvSpPr>
          <p:cNvPr id="4" name="Shape 2"/>
          <p:cNvSpPr/>
          <p:nvPr/>
        </p:nvSpPr>
        <p:spPr>
          <a:xfrm>
            <a:off x="6548199" y="1932980"/>
            <a:ext cx="574477" cy="22860"/>
          </a:xfrm>
          <a:prstGeom prst="roundRect">
            <a:avLst>
              <a:gd name="adj" fmla="val 125659"/>
            </a:avLst>
          </a:prstGeom>
          <a:solidFill>
            <a:srgbClr val="49606E"/>
          </a:solidFill>
          <a:ln/>
        </p:spPr>
      </p:sp>
      <p:sp>
        <p:nvSpPr>
          <p:cNvPr id="5" name="Shape 3"/>
          <p:cNvSpPr/>
          <p:nvPr/>
        </p:nvSpPr>
        <p:spPr>
          <a:xfrm>
            <a:off x="7099816" y="1729026"/>
            <a:ext cx="430768" cy="43076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7180064" y="1775460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994071" y="1794748"/>
            <a:ext cx="236362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Literature Review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37724" y="2191226"/>
            <a:ext cx="55199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Analyze previous findings to identify knowledge gaps.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07724" y="3081814"/>
            <a:ext cx="574477" cy="22860"/>
          </a:xfrm>
          <a:prstGeom prst="roundRect">
            <a:avLst>
              <a:gd name="adj" fmla="val 125659"/>
            </a:avLst>
          </a:prstGeom>
          <a:solidFill>
            <a:srgbClr val="49606E"/>
          </a:solidFill>
          <a:ln/>
        </p:spPr>
      </p:sp>
      <p:sp>
        <p:nvSpPr>
          <p:cNvPr id="10" name="Shape 8"/>
          <p:cNvSpPr/>
          <p:nvPr/>
        </p:nvSpPr>
        <p:spPr>
          <a:xfrm>
            <a:off x="7099816" y="2877860"/>
            <a:ext cx="430768" cy="43076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7180064" y="2924294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72701" y="2943582"/>
            <a:ext cx="2375535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Circuit Simulation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72701" y="3340060"/>
            <a:ext cx="55199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 and test inverter models under varying conditions.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48199" y="4072057"/>
            <a:ext cx="574477" cy="22860"/>
          </a:xfrm>
          <a:prstGeom prst="roundRect">
            <a:avLst>
              <a:gd name="adj" fmla="val 125659"/>
            </a:avLst>
          </a:prstGeom>
          <a:solidFill>
            <a:srgbClr val="4960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9816" y="3868103"/>
            <a:ext cx="430768" cy="43076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7180064" y="3914537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014549" y="3933825"/>
            <a:ext cx="2343150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Leakage Analysis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37724" y="4330303"/>
            <a:ext cx="55199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Quantify leakage currents across topologies and frequencies.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07724" y="5062418"/>
            <a:ext cx="574477" cy="22860"/>
          </a:xfrm>
          <a:prstGeom prst="roundRect">
            <a:avLst>
              <a:gd name="adj" fmla="val 125659"/>
            </a:avLst>
          </a:prstGeom>
          <a:solidFill>
            <a:srgbClr val="49606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9816" y="4858464"/>
            <a:ext cx="430768" cy="43076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1" name="Text 19"/>
          <p:cNvSpPr/>
          <p:nvPr/>
        </p:nvSpPr>
        <p:spPr>
          <a:xfrm>
            <a:off x="7180064" y="4904899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72701" y="4924187"/>
            <a:ext cx="2297906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Thermal Analysis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72701" y="5320665"/>
            <a:ext cx="55199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Examine device temperature profiles and stresses.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48199" y="6052780"/>
            <a:ext cx="574477" cy="22860"/>
          </a:xfrm>
          <a:prstGeom prst="roundRect">
            <a:avLst>
              <a:gd name="adj" fmla="val 125659"/>
            </a:avLst>
          </a:prstGeom>
          <a:solidFill>
            <a:srgbClr val="49606E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9816" y="5848826"/>
            <a:ext cx="430768" cy="430768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6" name="Text 24"/>
          <p:cNvSpPr/>
          <p:nvPr/>
        </p:nvSpPr>
        <p:spPr>
          <a:xfrm>
            <a:off x="7180064" y="589526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510201" y="5914549"/>
            <a:ext cx="284749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Standards Validation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37724" y="6311027"/>
            <a:ext cx="551997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Ensure compliance with IEC 62109 and IEEE 1547.</a:t>
            </a:r>
            <a:endParaRPr lang="en-US" sz="1500" dirty="0"/>
          </a:p>
        </p:txBody>
      </p:sp>
      <p:sp>
        <p:nvSpPr>
          <p:cNvPr id="29" name="Rectangle 28"/>
          <p:cNvSpPr/>
          <p:nvPr/>
        </p:nvSpPr>
        <p:spPr>
          <a:xfrm>
            <a:off x="12744450" y="7783830"/>
            <a:ext cx="1760220" cy="32004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853696"/>
            <a:ext cx="565142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We Expect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4916686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57544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Validated Model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7724" y="6249948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Confirmed performance of HERIC inverter design.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233" y="4916686"/>
            <a:ext cx="598408" cy="598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51233" y="5754410"/>
            <a:ext cx="301430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Frequency-Leakage Graphs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51233" y="6601897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Visualize leakage current trends and optimal points.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4743" y="4916686"/>
            <a:ext cx="598408" cy="598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64743" y="5754410"/>
            <a:ext cx="287262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Thermal Analysis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64743" y="6249948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Thermal maps guiding effective cooling methods.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8252" y="4916686"/>
            <a:ext cx="598408" cy="5984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778252" y="5754410"/>
            <a:ext cx="3014424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Standards Compliance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778252" y="6601897"/>
            <a:ext cx="30144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Alignment with IEC 62109 and IEEE 1547 for safety.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47548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72343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786420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30257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Best Topology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521273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HERIC topology offers superior leakage current reduction.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786420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4930973" y="30257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Optimal Range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521273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10–20 kHz switching frequency balances efficiency and safety.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148977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77039" y="5388293"/>
            <a:ext cx="294870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Design Guidelines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5883831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Recommendations provided for safer photovoltaic system design.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76273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You…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12618720" y="7612380"/>
            <a:ext cx="1931670" cy="61722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6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496</Words>
  <Application>Microsoft Office PowerPoint</Application>
  <PresentationFormat>Custom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Book Antiqua</vt:lpstr>
      <vt:lpstr>Arial</vt:lpstr>
      <vt:lpstr>Berlin Sans FB</vt:lpstr>
      <vt:lpstr>Cabin</vt:lpstr>
      <vt:lpstr>Times New Roman</vt:lpstr>
      <vt:lpstr>Calibri</vt:lpstr>
      <vt:lpstr>Unbounded</vt:lpstr>
      <vt:lpstr>Bodoni MT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Youtech BD</cp:lastModifiedBy>
  <cp:revision>16</cp:revision>
  <dcterms:created xsi:type="dcterms:W3CDTF">2025-05-04T10:30:51Z</dcterms:created>
  <dcterms:modified xsi:type="dcterms:W3CDTF">2025-05-05T04:26:10Z</dcterms:modified>
</cp:coreProperties>
</file>