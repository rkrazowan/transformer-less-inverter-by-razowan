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9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0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1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5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8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4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2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7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590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10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3639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85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76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6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1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4606587"/>
          </a:xfrm>
        </p:spPr>
        <p:txBody>
          <a:bodyPr>
            <a:normAutofit lnSpcReduction="10000"/>
          </a:bodyPr>
          <a:lstStyle/>
          <a:p>
            <a:r>
              <a:rPr dirty="0" smtClean="0"/>
              <a:t>PV </a:t>
            </a:r>
            <a:r>
              <a:rPr dirty="0"/>
              <a:t>converts sunlight into DC electricity</a:t>
            </a:r>
          </a:p>
          <a:p>
            <a:r>
              <a:rPr dirty="0" smtClean="0"/>
              <a:t> </a:t>
            </a:r>
            <a:r>
              <a:rPr dirty="0"/>
              <a:t>Inverters convert DC to AC for grid connection</a:t>
            </a:r>
          </a:p>
          <a:p>
            <a:r>
              <a:rPr dirty="0" smtClean="0"/>
              <a:t>Transformer</a:t>
            </a:r>
            <a:r>
              <a:rPr lang="en-GB" dirty="0" smtClean="0"/>
              <a:t>-</a:t>
            </a:r>
            <a:r>
              <a:rPr dirty="0" smtClean="0"/>
              <a:t>less </a:t>
            </a:r>
            <a:r>
              <a:rPr dirty="0"/>
              <a:t>inverters: compact, efficient, cost-effective</a:t>
            </a:r>
          </a:p>
          <a:p>
            <a:r>
              <a:rPr dirty="0" smtClean="0"/>
              <a:t> </a:t>
            </a:r>
            <a:r>
              <a:rPr dirty="0"/>
              <a:t>Challenge: Leakage current due to lack of galvanic </a:t>
            </a:r>
            <a:r>
              <a:rPr dirty="0" smtClean="0"/>
              <a:t>isolation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US" dirty="0"/>
              <a:t>Figure 1: Block diagram of a grid-connected PV system highlighting the inverter stage.</a:t>
            </a:r>
            <a:endParaRPr lang="en-GB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02" y="3661400"/>
            <a:ext cx="5505165" cy="2103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Transformerless Inverter in PV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15308"/>
          </a:xfrm>
        </p:spPr>
        <p:txBody>
          <a:bodyPr>
            <a:normAutofit fontScale="92500" lnSpcReduction="10000"/>
          </a:bodyPr>
          <a:lstStyle/>
          <a:p>
            <a:r>
              <a:rPr dirty="0" smtClean="0"/>
              <a:t>Traditional </a:t>
            </a:r>
            <a:r>
              <a:rPr dirty="0"/>
              <a:t>inverters: bulky &amp; less efficient (with transformer)</a:t>
            </a:r>
          </a:p>
          <a:p>
            <a:r>
              <a:rPr dirty="0" smtClean="0"/>
              <a:t>Transformer</a:t>
            </a:r>
            <a:r>
              <a:rPr lang="en-GB" dirty="0" smtClean="0"/>
              <a:t>-</a:t>
            </a:r>
            <a:r>
              <a:rPr dirty="0" smtClean="0"/>
              <a:t>less </a:t>
            </a:r>
            <a:r>
              <a:rPr dirty="0"/>
              <a:t>inverters: smaller, lighter, higher efficiency</a:t>
            </a:r>
          </a:p>
          <a:p>
            <a:r>
              <a:rPr dirty="0" smtClean="0"/>
              <a:t>Widely </a:t>
            </a:r>
            <a:r>
              <a:rPr dirty="0"/>
              <a:t>used in modern grid-connected PV </a:t>
            </a:r>
            <a:r>
              <a:rPr dirty="0" smtClean="0"/>
              <a:t>systems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Figure-2:Transformer-less inverter </a:t>
            </a:r>
            <a:r>
              <a:rPr lang="en-GB" dirty="0" err="1" smtClean="0"/>
              <a:t>architechture</a:t>
            </a:r>
            <a:r>
              <a:rPr lang="en-GB" dirty="0" smtClean="0"/>
              <a:t> (HERIC)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900790"/>
            <a:ext cx="5505165" cy="2198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 Current in PV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54219"/>
          </a:xfrm>
        </p:spPr>
        <p:txBody>
          <a:bodyPr>
            <a:normAutofit lnSpcReduction="10000"/>
          </a:bodyPr>
          <a:lstStyle/>
          <a:p>
            <a:r>
              <a:rPr dirty="0" smtClean="0"/>
              <a:t>Caused </a:t>
            </a:r>
            <a:r>
              <a:rPr dirty="0"/>
              <a:t>by parasitic capacitance between PV array &amp; ground</a:t>
            </a:r>
          </a:p>
          <a:p>
            <a:r>
              <a:rPr dirty="0" smtClean="0"/>
              <a:t> </a:t>
            </a:r>
            <a:r>
              <a:rPr dirty="0"/>
              <a:t>Issues: EMI, reduced efficiency, safety concerns</a:t>
            </a:r>
          </a:p>
          <a:p>
            <a:r>
              <a:rPr dirty="0" smtClean="0"/>
              <a:t>Depends </a:t>
            </a:r>
            <a:r>
              <a:rPr dirty="0"/>
              <a:t>on topology, switching frequency, and modulation </a:t>
            </a:r>
            <a:r>
              <a:rPr dirty="0" smtClean="0"/>
              <a:t>method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Figure </a:t>
            </a:r>
            <a:r>
              <a:rPr lang="en-US" dirty="0"/>
              <a:t>3</a:t>
            </a:r>
            <a:r>
              <a:rPr lang="en-US" dirty="0" smtClean="0"/>
              <a:t>: </a:t>
            </a:r>
            <a:r>
              <a:rPr lang="en-US" dirty="0"/>
              <a:t>Leakage Current in PV Systems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828203"/>
            <a:ext cx="5505165" cy="1944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851516" cy="13208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Parasitic Capacitance and </a:t>
            </a:r>
            <a:r>
              <a:rPr dirty="0" smtClean="0"/>
              <a:t>Significance </a:t>
            </a:r>
            <a:r>
              <a:rPr dirty="0"/>
              <a:t>of Switching </a:t>
            </a:r>
            <a:r>
              <a:rPr dirty="0" smtClean="0"/>
              <a:t>Frequency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48256"/>
            <a:ext cx="6347714" cy="4669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Parasitic </a:t>
            </a:r>
            <a:r>
              <a:rPr lang="en-US" dirty="0"/>
              <a:t>Capacitance</a:t>
            </a:r>
            <a:r>
              <a:rPr lang="en-US" dirty="0" smtClean="0"/>
              <a:t>:</a:t>
            </a:r>
          </a:p>
          <a:p>
            <a:r>
              <a:rPr lang="en-US" dirty="0" smtClean="0"/>
              <a:t>Arises </a:t>
            </a:r>
            <a:r>
              <a:rPr lang="en-US" dirty="0"/>
              <a:t>between PV panel and ground due to module structure and insulating </a:t>
            </a:r>
            <a:r>
              <a:rPr lang="en-US" dirty="0" smtClean="0"/>
              <a:t>layers</a:t>
            </a:r>
          </a:p>
          <a:p>
            <a:r>
              <a:rPr lang="en-US" dirty="0" smtClean="0"/>
              <a:t>Directly </a:t>
            </a:r>
            <a:r>
              <a:rPr lang="en-US" dirty="0"/>
              <a:t>affects leakage current magnitude and </a:t>
            </a:r>
            <a:r>
              <a:rPr lang="en-US" dirty="0" smtClean="0"/>
              <a:t>behavior</a:t>
            </a:r>
          </a:p>
          <a:p>
            <a:pPr marL="0" indent="0">
              <a:buNone/>
            </a:pPr>
            <a:r>
              <a:rPr dirty="0" smtClean="0"/>
              <a:t> 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pPr marL="0" indent="0">
              <a:buNone/>
            </a:pPr>
            <a:r>
              <a:rPr lang="en-US" dirty="0" smtClean="0"/>
              <a:t>         Figure </a:t>
            </a:r>
            <a:r>
              <a:rPr lang="en-US" dirty="0"/>
              <a:t>1.5: Parasitic capacitance in the PV cell.</a:t>
            </a:r>
            <a:endParaRPr lang="en-GB" dirty="0" smtClean="0"/>
          </a:p>
          <a:p>
            <a:r>
              <a:rPr lang="en-US" dirty="0" smtClean="0"/>
              <a:t>High frequency → smaller filters, better power quality</a:t>
            </a:r>
          </a:p>
          <a:p>
            <a:r>
              <a:rPr dirty="0" smtClean="0"/>
              <a:t>But </a:t>
            </a:r>
            <a:r>
              <a:rPr dirty="0"/>
              <a:t>increases switching loss &amp; thermal stress</a:t>
            </a:r>
          </a:p>
          <a:p>
            <a:r>
              <a:rPr dirty="0" smtClean="0"/>
              <a:t> </a:t>
            </a:r>
            <a:r>
              <a:rPr dirty="0"/>
              <a:t>Need optimal frequency range for balance between efficiency &amp;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10" y="3169056"/>
            <a:ext cx="4401693" cy="1441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4110963"/>
          </a:xfrm>
        </p:spPr>
        <p:txBody>
          <a:bodyPr/>
          <a:lstStyle/>
          <a:p>
            <a:r>
              <a:rPr dirty="0" smtClean="0"/>
              <a:t> </a:t>
            </a:r>
            <a:r>
              <a:rPr dirty="0"/>
              <a:t>Limited research in Bangladesh</a:t>
            </a:r>
          </a:p>
          <a:p>
            <a:r>
              <a:rPr dirty="0" smtClean="0"/>
              <a:t> </a:t>
            </a:r>
            <a:r>
              <a:rPr dirty="0"/>
              <a:t>Difficulty in MATLAB/</a:t>
            </a:r>
            <a:r>
              <a:rPr dirty="0" err="1"/>
              <a:t>Simscape</a:t>
            </a:r>
            <a:r>
              <a:rPr dirty="0"/>
              <a:t> simulation for leakage analysis</a:t>
            </a:r>
          </a:p>
          <a:p>
            <a:r>
              <a:rPr dirty="0" smtClean="0"/>
              <a:t> </a:t>
            </a:r>
            <a:r>
              <a:rPr dirty="0"/>
              <a:t>High-performance laptop/software needed (Overleaf, MATLAB)</a:t>
            </a:r>
          </a:p>
          <a:p>
            <a:r>
              <a:rPr dirty="0" smtClean="0"/>
              <a:t> </a:t>
            </a:r>
            <a:r>
              <a:rPr dirty="0"/>
              <a:t>Inconsistent research guidelines &amp; lack of lab materials</a:t>
            </a:r>
          </a:p>
          <a:p>
            <a:r>
              <a:rPr dirty="0" smtClean="0"/>
              <a:t>Difficulty </a:t>
            </a:r>
            <a:r>
              <a:rPr dirty="0"/>
              <a:t>in power calculation for some topologies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Investigate leakage current in </a:t>
            </a:r>
            <a:r>
              <a:rPr dirty="0" err="1"/>
              <a:t>transformerless</a:t>
            </a:r>
            <a:r>
              <a:rPr dirty="0"/>
              <a:t> inverter topologies</a:t>
            </a:r>
          </a:p>
          <a:p>
            <a:r>
              <a:rPr dirty="0" smtClean="0"/>
              <a:t> </a:t>
            </a:r>
            <a:r>
              <a:rPr dirty="0"/>
              <a:t>Study effect of switching frequency on leakage &amp; efficiency</a:t>
            </a:r>
          </a:p>
          <a:p>
            <a:r>
              <a:rPr dirty="0" smtClean="0"/>
              <a:t> </a:t>
            </a:r>
            <a:r>
              <a:rPr dirty="0"/>
              <a:t>Determine optimal frequency range for better performance</a:t>
            </a:r>
          </a:p>
          <a:p>
            <a:r>
              <a:rPr dirty="0" smtClean="0"/>
              <a:t> </a:t>
            </a:r>
            <a:r>
              <a:rPr dirty="0"/>
              <a:t>Validate using simulation &amp;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08562"/>
            <a:ext cx="6347713" cy="865761"/>
          </a:xfrm>
        </p:spPr>
        <p:txBody>
          <a:bodyPr/>
          <a:lstStyle/>
          <a:p>
            <a:r>
              <a:rPr dirty="0"/>
              <a:t>Classification of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669275"/>
            <a:ext cx="6347714" cy="1974715"/>
          </a:xfrm>
        </p:spPr>
        <p:txBody>
          <a:bodyPr>
            <a:normAutofit fontScale="92500" lnSpcReduction="20000"/>
          </a:bodyPr>
          <a:lstStyle/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We can discuss about only four topology in our thesis work</a:t>
            </a:r>
          </a:p>
          <a:p>
            <a:r>
              <a:rPr dirty="0" smtClean="0"/>
              <a:t>H4</a:t>
            </a:r>
            <a:r>
              <a:rPr dirty="0"/>
              <a:t>: Simple, high leakage</a:t>
            </a:r>
          </a:p>
          <a:p>
            <a:r>
              <a:rPr dirty="0" smtClean="0"/>
              <a:t> </a:t>
            </a:r>
            <a:r>
              <a:rPr dirty="0"/>
              <a:t>H5: Adds extra switch, reduces leakage</a:t>
            </a:r>
          </a:p>
          <a:p>
            <a:r>
              <a:rPr dirty="0" smtClean="0"/>
              <a:t>H6</a:t>
            </a:r>
            <a:r>
              <a:rPr dirty="0"/>
              <a:t>: Better isolation, lower conduction loss</a:t>
            </a:r>
          </a:p>
          <a:p>
            <a:r>
              <a:rPr dirty="0" smtClean="0"/>
              <a:t> </a:t>
            </a:r>
            <a:r>
              <a:rPr dirty="0"/>
              <a:t>HERIC: High efficiency, very low leakage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6" y="1274323"/>
            <a:ext cx="8073349" cy="3394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Comparison between different single-phase transformer-less inverter topologies present in this slide</a:t>
            </a:r>
          </a:p>
          <a:p>
            <a:r>
              <a:rPr dirty="0" smtClean="0"/>
              <a:t>H4 </a:t>
            </a:r>
            <a:r>
              <a:rPr dirty="0"/>
              <a:t>→ High leakage, simple but less efficient</a:t>
            </a:r>
          </a:p>
          <a:p>
            <a:r>
              <a:rPr dirty="0"/>
              <a:t>H5 → Lower leakage, moderate efficiency</a:t>
            </a:r>
          </a:p>
          <a:p>
            <a:r>
              <a:rPr dirty="0"/>
              <a:t>H6 → Very low leakage, high efficiency</a:t>
            </a:r>
          </a:p>
          <a:p>
            <a:r>
              <a:rPr dirty="0"/>
              <a:t>HERIC → Best balance, very high </a:t>
            </a:r>
            <a:r>
              <a:rPr dirty="0" smtClean="0"/>
              <a:t>efficiency</a:t>
            </a:r>
            <a:r>
              <a:rPr lang="en-GB" dirty="0"/>
              <a:t>,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373</Words>
  <Application>Microsoft Office PowerPoint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Introduction</vt:lpstr>
      <vt:lpstr>Transformerless Inverter in PV Systems</vt:lpstr>
      <vt:lpstr>Leakage Current in PV Systems</vt:lpstr>
      <vt:lpstr>Parasitic Capacitance and Significance of Switching Frequency</vt:lpstr>
      <vt:lpstr>Challenges and Limitations</vt:lpstr>
      <vt:lpstr>Objectives of the Thesis</vt:lpstr>
      <vt:lpstr>Classification of Topologies</vt:lpstr>
      <vt:lpstr>Comparison of Topologies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Youtech BD</dc:creator>
  <cp:keywords/>
  <dc:description>generated using python-pptx</dc:description>
  <cp:lastModifiedBy>Youtech BD</cp:lastModifiedBy>
  <cp:revision>7</cp:revision>
  <dcterms:created xsi:type="dcterms:W3CDTF">2013-01-27T09:14:16Z</dcterms:created>
  <dcterms:modified xsi:type="dcterms:W3CDTF">2025-09-17T07:04:38Z</dcterms:modified>
  <cp:category/>
</cp:coreProperties>
</file>